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4272" r:id="rId2"/>
  </p:sldMasterIdLst>
  <p:notesMasterIdLst>
    <p:notesMasterId r:id="rId24"/>
  </p:notesMasterIdLst>
  <p:handoutMasterIdLst>
    <p:handoutMasterId r:id="rId25"/>
  </p:handoutMasterIdLst>
  <p:sldIdLst>
    <p:sldId id="577" r:id="rId3"/>
    <p:sldId id="596" r:id="rId4"/>
    <p:sldId id="595" r:id="rId5"/>
    <p:sldId id="578" r:id="rId6"/>
    <p:sldId id="579" r:id="rId7"/>
    <p:sldId id="580" r:id="rId8"/>
    <p:sldId id="581" r:id="rId9"/>
    <p:sldId id="582" r:id="rId10"/>
    <p:sldId id="583" r:id="rId11"/>
    <p:sldId id="584" r:id="rId12"/>
    <p:sldId id="585" r:id="rId13"/>
    <p:sldId id="586" r:id="rId14"/>
    <p:sldId id="587" r:id="rId15"/>
    <p:sldId id="588" r:id="rId16"/>
    <p:sldId id="589" r:id="rId17"/>
    <p:sldId id="590" r:id="rId18"/>
    <p:sldId id="591" r:id="rId19"/>
    <p:sldId id="592" r:id="rId20"/>
    <p:sldId id="593" r:id="rId21"/>
    <p:sldId id="597" r:id="rId22"/>
    <p:sldId id="594" r:id="rId23"/>
  </p:sldIdLst>
  <p:sldSz cx="9612313" cy="6858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9" userDrawn="1">
          <p15:clr>
            <a:srgbClr val="A4A3A4"/>
          </p15:clr>
        </p15:guide>
        <p15:guide id="2" orient="horz" pos="1570">
          <p15:clr>
            <a:srgbClr val="A4A3A4"/>
          </p15:clr>
        </p15:guide>
        <p15:guide id="3" orient="horz" pos="2931" userDrawn="1">
          <p15:clr>
            <a:srgbClr val="A4A3A4"/>
          </p15:clr>
        </p15:guide>
        <p15:guide id="4" orient="horz" pos="2251">
          <p15:clr>
            <a:srgbClr val="A4A3A4"/>
          </p15:clr>
        </p15:guide>
        <p15:guide id="5" orient="horz" pos="1797">
          <p15:clr>
            <a:srgbClr val="A4A3A4"/>
          </p15:clr>
        </p15:guide>
        <p15:guide id="6" pos="1666">
          <p15:clr>
            <a:srgbClr val="A4A3A4"/>
          </p15:clr>
        </p15:guide>
        <p15:guide id="7" pos="3072">
          <p15:clr>
            <a:srgbClr val="A4A3A4"/>
          </p15:clr>
        </p15:guide>
        <p15:guide id="8" pos="597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FFE7"/>
    <a:srgbClr val="FFFFCC"/>
    <a:srgbClr val="C0504D"/>
    <a:srgbClr val="3366FF"/>
    <a:srgbClr val="008C9E"/>
    <a:srgbClr val="008000"/>
    <a:srgbClr val="1F497D"/>
    <a:srgbClr val="4F81BD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5" autoAdjust="0"/>
    <p:restoredTop sz="86453" autoAdjust="0"/>
  </p:normalViewPr>
  <p:slideViewPr>
    <p:cSldViewPr>
      <p:cViewPr varScale="1">
        <p:scale>
          <a:sx n="116" d="100"/>
          <a:sy n="116" d="100"/>
        </p:scale>
        <p:origin x="1890" y="84"/>
      </p:cViewPr>
      <p:guideLst>
        <p:guide orient="horz" pos="3339"/>
        <p:guide orient="horz" pos="1570"/>
        <p:guide orient="horz" pos="2931"/>
        <p:guide orient="horz" pos="2251"/>
        <p:guide orient="horz" pos="1797"/>
        <p:guide pos="1666"/>
        <p:guide pos="3072"/>
        <p:guide pos="59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3954" y="-102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presProps" Target="presProp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handoutMaster" Target="handoutMasters/handoutMaster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notesMaster" Target="notesMasters/notesMaster1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theme" Target="theme/theme1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2861AB-0D50-4F0C-AA22-4590C786FB29}" type="datetimeFigureOut">
              <a:rPr lang="ko-KR" altLang="en-US"/>
              <a:pPr>
                <a:defRPr/>
              </a:pPr>
              <a:t>2025-12-10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711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711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7579F5C-265F-4BDD-A344-08B964E8A85E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0827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1B37D8-3058-4437-B1E2-39F3E8125C41}" type="datetimeFigureOut">
              <a:rPr lang="ko-KR" altLang="en-US"/>
              <a:pPr>
                <a:defRPr/>
              </a:pPr>
              <a:t>2025-12-10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742950"/>
            <a:ext cx="5219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3" y="4715953"/>
            <a:ext cx="5438775" cy="446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711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711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D0145D9-2540-4F00-AEAC-C751C2DC4E7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86201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0927" y="2130432"/>
            <a:ext cx="8170465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850" y="3886200"/>
            <a:ext cx="672861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E0EE3-3FAA-4927-A9E3-67949D436065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AFDC2-E24B-4E58-AA30-F881D1D2C496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AC2A9-74CA-46D4-B4C4-937A7A9FCD89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0927" y="2130432"/>
            <a:ext cx="8170465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850" y="3886200"/>
            <a:ext cx="672861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D8715-FB8C-494C-887A-13C073425095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65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1D8FA-FDFE-43FD-871E-4485B63ABDA0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451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600BD-6639-4610-A284-49863B3D649D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20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.png" /><Relationship Id="rId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 /><Relationship Id="rId2" Type="http://schemas.openxmlformats.org/officeDocument/2006/relationships/slideLayout" Target="../slideLayouts/slideLayout5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.png" /><Relationship Id="rId4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81013" y="274638"/>
            <a:ext cx="86502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81013" y="1600200"/>
            <a:ext cx="865028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1013" y="6356350"/>
            <a:ext cx="2243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EBF145-FE32-4819-8FBA-85D70A6CBC6D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4538" y="6356350"/>
            <a:ext cx="3043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grpSp>
        <p:nvGrpSpPr>
          <p:cNvPr id="1030" name="그룹 13"/>
          <p:cNvGrpSpPr>
            <a:grpSpLocks/>
          </p:cNvGrpSpPr>
          <p:nvPr userDrawn="1"/>
        </p:nvGrpSpPr>
        <p:grpSpPr bwMode="auto">
          <a:xfrm>
            <a:off x="0" y="6632575"/>
            <a:ext cx="2551113" cy="260350"/>
            <a:chOff x="0" y="-14498"/>
            <a:chExt cx="2805513" cy="319379"/>
          </a:xfrm>
        </p:grpSpPr>
        <p:pic>
          <p:nvPicPr>
            <p:cNvPr id="1034" name="Picture 1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r="83472" b="-15150"/>
            <a:stretch>
              <a:fillRect/>
            </a:stretch>
          </p:blipFill>
          <p:spPr bwMode="auto">
            <a:xfrm>
              <a:off x="0" y="86143"/>
              <a:ext cx="215223" cy="204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Box 3"/>
            <p:cNvSpPr txBox="1"/>
            <p:nvPr userDrawn="1"/>
          </p:nvSpPr>
          <p:spPr>
            <a:xfrm>
              <a:off x="50629" y="-14498"/>
              <a:ext cx="2754884" cy="31937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b="1" dirty="0">
                  <a:solidFill>
                    <a:srgbClr val="006666"/>
                  </a:solidFill>
                </a:rPr>
                <a:t> </a:t>
              </a:r>
              <a:r>
                <a:rPr lang="en-US" altLang="ko-KR" sz="1050" b="1" dirty="0" err="1">
                  <a:solidFill>
                    <a:srgbClr val="006666"/>
                  </a:solidFill>
                </a:rPr>
                <a:t>DongbuDaewoo</a:t>
              </a:r>
              <a:r>
                <a:rPr lang="en-US" altLang="ko-KR" sz="1050" b="1" dirty="0">
                  <a:solidFill>
                    <a:srgbClr val="006666"/>
                  </a:solidFill>
                </a:rPr>
                <a:t> Electronics Service</a:t>
              </a:r>
              <a:endParaRPr lang="ko-KR" altLang="en-US" b="1" dirty="0">
                <a:solidFill>
                  <a:srgbClr val="006666"/>
                </a:solidFill>
              </a:endParaRPr>
            </a:p>
          </p:txBody>
        </p:sp>
      </p:grpSp>
      <p:sp>
        <p:nvSpPr>
          <p:cNvPr id="12" name="Rectangle 19"/>
          <p:cNvSpPr>
            <a:spLocks noChangeArrowheads="1"/>
          </p:cNvSpPr>
          <p:nvPr userDrawn="1"/>
        </p:nvSpPr>
        <p:spPr bwMode="auto">
          <a:xfrm>
            <a:off x="0" y="149225"/>
            <a:ext cx="9612313" cy="360000"/>
          </a:xfrm>
          <a:prstGeom prst="rect">
            <a:avLst/>
          </a:prstGeom>
          <a:solidFill>
            <a:srgbClr val="00808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8124" tIns="49063" rIns="98124" bIns="49063" anchor="ctr"/>
          <a:lstStyle/>
          <a:p>
            <a:pPr>
              <a:defRPr/>
            </a:pPr>
            <a:endParaRPr lang="ko-KR" altLang="ko-KR" sz="1917" b="1">
              <a:solidFill>
                <a:schemeClr val="bg1"/>
              </a:solidFill>
              <a:latin typeface="HY각헤드라인M" pitchFamily="18" charset="-127"/>
              <a:ea typeface="HY각헤드라인M" pitchFamily="18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 bwMode="auto">
          <a:xfrm>
            <a:off x="-36825" y="6693110"/>
            <a:ext cx="9649138" cy="0"/>
          </a:xfrm>
          <a:prstGeom prst="line">
            <a:avLst/>
          </a:prstGeom>
          <a:noFill/>
          <a:ln w="9525" cap="flat" cmpd="sng" algn="ctr">
            <a:solidFill>
              <a:srgbClr val="7889FB"/>
            </a:solidFill>
            <a:prstDash val="sysDot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</p:cxnSp>
      <p:sp>
        <p:nvSpPr>
          <p:cNvPr id="11" name="Text Box 68"/>
          <p:cNvSpPr txBox="1">
            <a:spLocks noChangeArrowheads="1"/>
          </p:cNvSpPr>
          <p:nvPr userDrawn="1"/>
        </p:nvSpPr>
        <p:spPr bwMode="auto">
          <a:xfrm>
            <a:off x="9116218" y="6693500"/>
            <a:ext cx="396000" cy="1384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r">
              <a:defRPr/>
            </a:pPr>
            <a:fld id="{44C035BD-A1F8-422E-BD77-58DD8438F67F}" type="slidenum">
              <a:rPr lang="en-US" altLang="ko-KR" sz="900" b="1" i="1" smtClean="0">
                <a:latin typeface="Arial" charset="0"/>
                <a:ea typeface="바탕체" pitchFamily="17" charset="-127"/>
              </a:rPr>
              <a:pPr algn="r">
                <a:defRPr/>
              </a:pPr>
              <a:t>‹#›</a:t>
            </a:fld>
            <a:r>
              <a:rPr lang="en-US" altLang="ko-KR" sz="900" b="1" i="1" dirty="0">
                <a:latin typeface="Arial" charset="0"/>
                <a:ea typeface="바탕체" pitchFamily="17" charset="-127"/>
              </a:rPr>
              <a:t> </a:t>
            </a:r>
            <a:r>
              <a:rPr lang="en-US" altLang="ko-KR" sz="9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바탕체" pitchFamily="17" charset="-127"/>
              </a:rPr>
              <a:t>/ 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6" r:id="rId1"/>
    <p:sldLayoutId id="2147484270" r:id="rId2"/>
    <p:sldLayoutId id="2147484267" r:id="rId3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81013" y="274638"/>
            <a:ext cx="86502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81013" y="1600200"/>
            <a:ext cx="865028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1013" y="6356350"/>
            <a:ext cx="2243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EFB5CED-83F7-45B9-B534-6C0B04FD2006}" type="datetime1">
              <a:rPr lang="ko-KR" altLang="en-US" smtClean="0"/>
              <a:t>2025-12-10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4538" y="6356350"/>
            <a:ext cx="3043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grpSp>
        <p:nvGrpSpPr>
          <p:cNvPr id="2054" name="그룹 13"/>
          <p:cNvGrpSpPr>
            <a:grpSpLocks/>
          </p:cNvGrpSpPr>
          <p:nvPr userDrawn="1"/>
        </p:nvGrpSpPr>
        <p:grpSpPr bwMode="auto">
          <a:xfrm>
            <a:off x="0" y="6632575"/>
            <a:ext cx="2551113" cy="260350"/>
            <a:chOff x="0" y="-14498"/>
            <a:chExt cx="2805513" cy="319379"/>
          </a:xfrm>
        </p:grpSpPr>
        <p:pic>
          <p:nvPicPr>
            <p:cNvPr id="2056" name="Picture 1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r="83472" b="-15150"/>
            <a:stretch>
              <a:fillRect/>
            </a:stretch>
          </p:blipFill>
          <p:spPr bwMode="auto">
            <a:xfrm>
              <a:off x="0" y="86143"/>
              <a:ext cx="215223" cy="204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Box 3"/>
            <p:cNvSpPr txBox="1"/>
            <p:nvPr userDrawn="1"/>
          </p:nvSpPr>
          <p:spPr>
            <a:xfrm>
              <a:off x="50629" y="-14498"/>
              <a:ext cx="2754884" cy="31937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b="1" dirty="0">
                  <a:solidFill>
                    <a:srgbClr val="006666"/>
                  </a:solidFill>
                </a:rPr>
                <a:t> </a:t>
              </a:r>
              <a:r>
                <a:rPr lang="en-US" altLang="ko-KR" sz="1050" b="1" dirty="0" err="1">
                  <a:solidFill>
                    <a:srgbClr val="006666"/>
                  </a:solidFill>
                </a:rPr>
                <a:t>DongbuDaewoo</a:t>
              </a:r>
              <a:r>
                <a:rPr lang="en-US" altLang="ko-KR" sz="1050" b="1" dirty="0">
                  <a:solidFill>
                    <a:srgbClr val="006666"/>
                  </a:solidFill>
                </a:rPr>
                <a:t> Electronics Service</a:t>
              </a:r>
              <a:endParaRPr lang="ko-KR" altLang="en-US" b="1" dirty="0">
                <a:solidFill>
                  <a:srgbClr val="006666"/>
                </a:solidFill>
              </a:endParaRPr>
            </a:p>
          </p:txBody>
        </p:sp>
      </p:grpSp>
      <p:cxnSp>
        <p:nvCxnSpPr>
          <p:cNvPr id="10" name="직선 연결선 9"/>
          <p:cNvCxnSpPr/>
          <p:nvPr userDrawn="1"/>
        </p:nvCxnSpPr>
        <p:spPr bwMode="auto">
          <a:xfrm>
            <a:off x="-36825" y="6693110"/>
            <a:ext cx="9649138" cy="0"/>
          </a:xfrm>
          <a:prstGeom prst="line">
            <a:avLst/>
          </a:prstGeom>
          <a:noFill/>
          <a:ln w="9525" cap="flat" cmpd="sng" algn="ctr">
            <a:solidFill>
              <a:srgbClr val="7889FB"/>
            </a:solidFill>
            <a:prstDash val="sysDot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</p:cxnSp>
    </p:spTree>
    <p:extLst>
      <p:ext uri="{BB962C8B-B14F-4D97-AF65-F5344CB8AC3E}">
        <p14:creationId xmlns:p14="http://schemas.microsoft.com/office/powerpoint/2010/main" val="36359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1.xm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612313" cy="6853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308716" y="2132856"/>
            <a:ext cx="49896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308716" y="1291620"/>
            <a:ext cx="49896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055014" y="5363924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서비스지원팀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3319" y="1420541"/>
            <a:ext cx="4166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96863" y="2764798"/>
            <a:ext cx="1813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2017. 10. </a:t>
            </a:r>
            <a:r>
              <a:rPr lang="en-US" altLang="ko-KR" sz="1400" b="1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26 v0.9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998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8380" y="188640"/>
            <a:ext cx="3587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배송설치 </a:t>
            </a:r>
            <a:r>
              <a:rPr lang="ko-KR" altLang="en-US" sz="1400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(FDC)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지원 업무 지사 이관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615" y="908720"/>
            <a:ext cx="5064207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배경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본사</a:t>
            </a:r>
            <a:r>
              <a:rPr lang="en-US" altLang="ko-KR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지사</a:t>
            </a:r>
            <a:r>
              <a:rPr lang="en-US" altLang="ko-KR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현장 각 조직 별 업무 </a:t>
            </a:r>
            <a:r>
              <a:rPr lang="en-US" altLang="ko-KR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R&amp;R </a:t>
            </a:r>
            <a:r>
              <a:rPr lang="ko-KR" altLang="en-US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정립 및 업무 분할을 통한 현장 지원 업무 효율 극대화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관리 조직도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519437"/>
              </p:ext>
            </p:extLst>
          </p:nvPr>
        </p:nvGraphicFramePr>
        <p:xfrm>
          <a:off x="3629372" y="1894200"/>
          <a:ext cx="5544000" cy="4633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736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2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200" b="1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협력사</a:t>
                      </a:r>
                      <a:endParaRPr kumimoji="1" lang="ko-KR" altLang="en-US" sz="1200" b="1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1" lang="ko-KR" altLang="en-US" sz="1100" b="1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협력사</a:t>
                      </a:r>
                      <a:r>
                        <a:rPr kumimoji="1" lang="ko-KR" altLang="en-US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운영 관리</a:t>
                      </a:r>
                      <a:endParaRPr kumimoji="1" lang="en-US" altLang="ko-KR" sz="1100" b="1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협력사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운영에 대한 전반적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Monitoring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및 문제점 파악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개선방향 설정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협력사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관리지표 설정 및 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(KPI  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품질지수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 시스템 보완 및 제반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리스크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점검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1" lang="ko-KR" altLang="en-US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업무지원</a:t>
                      </a:r>
                      <a:endParaRPr kumimoji="1" lang="en-US" altLang="ko-KR" sz="1100" b="1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영업물류 시스템 운영 지원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 권한 內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수수료 확정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월 마감 시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 권한 內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지사</a:t>
                      </a: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1" lang="en-US" altLang="ko-KR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품질 개선 관리</a:t>
                      </a:r>
                      <a:endParaRPr kumimoji="1" lang="en-US" altLang="ko-KR" sz="1100" b="1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업무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Process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개선 및 업무 적용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기술력 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 설치 품질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및 교육 계획 수립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현장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 Audit</a:t>
                      </a: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품질지수 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(KPI :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고객만족도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약속방문준수율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폐가전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회수율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설치불량율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kumimoji="1" lang="en-US" altLang="ko-KR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1" lang="ko-KR" altLang="en-US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업무지원</a:t>
                      </a:r>
                      <a:endParaRPr kumimoji="1" lang="en-US" altLang="ko-KR" sz="1100" b="1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영업물류 시스템 운영 지원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설치건 수정 등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 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수시 진행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수수료 정산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월 마감 시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협력사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일반업무 지원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 응대 등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1" lang="ko-KR" altLang="en-US" sz="1100" b="0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kumimoji="1" lang="ko-KR" altLang="en-US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</a:t>
                      </a:r>
                      <a:endParaRPr kumimoji="1" lang="en-US" altLang="ko-KR" sz="1100" b="1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ctr"/>
                      <a:r>
                        <a:rPr kumimoji="1" lang="en-US" altLang="ko-KR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(FDC)</a:t>
                      </a:r>
                      <a:endParaRPr kumimoji="1" lang="ko-KR" altLang="en-US" sz="1100" b="1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ctr"/>
                      <a:endParaRPr kumimoji="1" lang="ko-KR" altLang="en-US" sz="1100" b="1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1" lang="ko-KR" altLang="en-US" sz="110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품질 관리</a:t>
                      </a:r>
                      <a:endParaRPr kumimoji="1" lang="en-US" altLang="ko-KR" sz="1100" b="1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품질지수 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(KPI :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고객만족도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약속방문준수율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폐가전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회수율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설치불량율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기술력 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개인별 배송 설치 품질 관리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업무 규정 준수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1" lang="ko-KR" altLang="en-US" sz="110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 팀 관리</a:t>
                      </a:r>
                      <a:endParaRPr kumimoji="1" lang="en-US" altLang="ko-KR" sz="1100" b="1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1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업무</a:t>
                      </a:r>
                      <a:r>
                        <a:rPr kumimoji="1" lang="en-US" altLang="ko-KR" sz="1050" b="0" kern="1200" spc="-100" baseline="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Capa</a:t>
                      </a:r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대비 적정 설치 팀 확보 및 운영</a:t>
                      </a:r>
                      <a:endParaRPr kumimoji="1" lang="en-US" altLang="ko-KR" sz="1050" b="0" kern="1200" spc="-100" baseline="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kumimoji="1" lang="en-US" altLang="ko-KR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kern="1200" spc="-100" baseline="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비상 운영 가능한 설치 팀 사전 확보</a:t>
                      </a:r>
                      <a:endParaRPr kumimoji="1" lang="ko-KR" altLang="en-US" sz="1050" b="0" kern="1200" spc="-100" dirty="0">
                        <a:ln>
                          <a:solidFill>
                            <a:schemeClr val="accent3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0" marT="72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직사각형 48"/>
          <p:cNvSpPr/>
          <p:nvPr/>
        </p:nvSpPr>
        <p:spPr>
          <a:xfrm>
            <a:off x="1118136" y="1889628"/>
            <a:ext cx="1039336" cy="223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서비스운영담당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118136" y="2521048"/>
            <a:ext cx="1039336" cy="223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서비스지원팀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118136" y="3152468"/>
            <a:ext cx="1039336" cy="223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지사장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118136" y="3782374"/>
            <a:ext cx="1039336" cy="223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기술</a:t>
            </a:r>
            <a:r>
              <a:rPr lang="en-US" altLang="ko-KR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270264" y="3782374"/>
            <a:ext cx="1039336" cy="223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지사</a:t>
            </a:r>
            <a:r>
              <a:rPr lang="en-US" altLang="ko-KR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Staff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118136" y="4609952"/>
            <a:ext cx="1039336" cy="2235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en-US" altLang="ko-KR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FDC </a:t>
            </a:r>
            <a:r>
              <a:rPr lang="ko-KR" altLang="en-US" sz="110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협력사</a:t>
            </a:r>
            <a:r>
              <a:rPr lang="en-US" altLang="ko-KR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</a:t>
            </a:r>
            <a:r>
              <a:rPr lang="en-US" altLang="ko-KR" sz="11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118136" y="5239858"/>
            <a:ext cx="1039336" cy="2235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창고장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118136" y="5869764"/>
            <a:ext cx="1039336" cy="2235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11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설치기사</a:t>
            </a:r>
            <a:endParaRPr lang="en-US" altLang="ko-KR" sz="110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2" name="꺾인 연결선 61"/>
          <p:cNvCxnSpPr>
            <a:stCxn id="56" idx="3"/>
            <a:endCxn id="55" idx="3"/>
          </p:cNvCxnSpPr>
          <p:nvPr/>
        </p:nvCxnSpPr>
        <p:spPr>
          <a:xfrm flipV="1">
            <a:off x="2157472" y="5351624"/>
            <a:ext cx="12700" cy="629906"/>
          </a:xfrm>
          <a:prstGeom prst="bentConnector3">
            <a:avLst>
              <a:gd name="adj1" fmla="val 180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5" idx="1"/>
            <a:endCxn id="54" idx="1"/>
          </p:cNvCxnSpPr>
          <p:nvPr/>
        </p:nvCxnSpPr>
        <p:spPr>
          <a:xfrm rot="10800000">
            <a:off x="1118136" y="4721718"/>
            <a:ext cx="12700" cy="629906"/>
          </a:xfrm>
          <a:prstGeom prst="bentConnector3">
            <a:avLst>
              <a:gd name="adj1" fmla="val 180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54" idx="0"/>
            <a:endCxn id="53" idx="2"/>
          </p:cNvCxnSpPr>
          <p:nvPr/>
        </p:nvCxnSpPr>
        <p:spPr>
          <a:xfrm rot="5400000" flipH="1" flipV="1">
            <a:off x="1911845" y="3731865"/>
            <a:ext cx="604046" cy="1152128"/>
          </a:xfrm>
          <a:prstGeom prst="bentConnector3">
            <a:avLst>
              <a:gd name="adj1" fmla="val 62615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54" idx="0"/>
            <a:endCxn id="52" idx="2"/>
          </p:cNvCxnSpPr>
          <p:nvPr/>
        </p:nvCxnSpPr>
        <p:spPr>
          <a:xfrm flipV="1">
            <a:off x="1637804" y="4005906"/>
            <a:ext cx="0" cy="604046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V="1">
            <a:off x="1637804" y="3376000"/>
            <a:ext cx="0" cy="406374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 flipV="1">
            <a:off x="1637804" y="2744580"/>
            <a:ext cx="0" cy="406374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 flipV="1">
            <a:off x="1637804" y="2114674"/>
            <a:ext cx="0" cy="406374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1735602" y="3449477"/>
            <a:ext cx="1039336" cy="223532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9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지사 총괄 </a:t>
            </a:r>
            <a:r>
              <a:rPr lang="ko-KR" altLang="en-US" sz="9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900" b="1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694200" y="4325208"/>
            <a:ext cx="1039336" cy="223532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9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품질관리 및 지원</a:t>
            </a:r>
            <a:endParaRPr lang="en-US" altLang="ko-KR" sz="900" b="1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694200" y="4929254"/>
            <a:ext cx="1039336" cy="223532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900" b="1" spc="-100" err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협력사</a:t>
            </a:r>
            <a:r>
              <a:rPr lang="ko-KR" altLang="en-US" sz="9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총괄 관리</a:t>
            </a:r>
            <a:endParaRPr lang="en-US" altLang="ko-KR" sz="900" b="1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735602" y="2840350"/>
            <a:ext cx="1039336" cy="223532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9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 기획 및 관리</a:t>
            </a:r>
            <a:endParaRPr lang="en-US" altLang="ko-KR" sz="900" b="1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735602" y="2207521"/>
            <a:ext cx="1039336" cy="223532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9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현장 총괄 관리</a:t>
            </a:r>
            <a:endParaRPr lang="en-US" altLang="ko-KR" sz="900" b="1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698416" y="5560370"/>
            <a:ext cx="1039336" cy="223532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eaLnBrk="1" latinLnBrk="1" hangingPunct="1"/>
            <a:r>
              <a:rPr lang="ko-KR" altLang="en-US" sz="900" b="1" spc="-10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설치품질 관리</a:t>
            </a:r>
            <a:endParaRPr lang="en-US" altLang="ko-KR" sz="900" b="1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59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8380" y="188640"/>
            <a:ext cx="4208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본사 관할업무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895145"/>
              </p:ext>
            </p:extLst>
          </p:nvPr>
        </p:nvGraphicFramePr>
        <p:xfrm>
          <a:off x="234085" y="922584"/>
          <a:ext cx="9146399" cy="538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6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2736">
                <a:tc grid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사용권한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지사이관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배정</a:t>
                      </a:r>
                      <a:r>
                        <a:rPr kumimoji="1" lang="en-US" altLang="ko-KR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설치관리</a:t>
                      </a: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6"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설치자 배정관리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배정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배정확정 진행 상태까지 설치자 배정을 관리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지사이관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설치건 정리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배정확정 이후의 처리 완료 상태까지 배송설치건을 관리 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완료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수정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전표취소 및 정정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배송설치건의 의뢰취소 및 배정센터 변경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약속일자 변경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완료내역의 미처리 변경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배정물량현황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배정물량 및 출하요청리스트의 출력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설치확인서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배달설치건의 설치확인서를 인쇄 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고객사 설치확인서가 필요한 경우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약속일자변경 본사요청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전표취소 및 정정의 약속일자 변경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요청건을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본사에서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확정등록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현황관리</a:t>
                      </a: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　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 rowSpan="10"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고객이력조회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고객의 배송설치건의 이력내역을 조회 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조회 구분 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업체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고객이름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1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지사이관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전체진행현황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진행상태별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현황 조회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진행상황별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집계현황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설치자별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진행현황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설치자 기준 고객이력 조회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진행상황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수주일자별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조회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진행상태 리스트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배송설치 업무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진행상태별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list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미완료 리스트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기간별 전체 미완료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raw data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설치완료 리스트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기간별 설치 완료 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raw data (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취소건 포함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폐가전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수거 집계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('12.02 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이후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폐가전 수거센터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수거 품목별 회수 수량 집계현황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배달설치 처리현황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약속일 기준 설치 현황 및 미완료 현황 집계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대상건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완료내역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폐가전 회수 리스트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(ECOAS)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폐가전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수거 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raw-data (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환경공단전산 </a:t>
                      </a:r>
                      <a:r>
                        <a:rPr kumimoji="1" lang="en-US" altLang="ko-KR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ecoas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업로드 형식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미환입 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센터별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취소건 환입 대상 현황 및 </a:t>
                      </a:r>
                      <a:r>
                        <a:rPr kumimoji="1" lang="ko-KR" altLang="en-US" sz="1050" b="0" kern="1200" spc="-100" dirty="0" err="1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미환입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현황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본사</a:t>
                      </a:r>
                      <a:r>
                        <a:rPr kumimoji="1" lang="en-US" altLang="ko-KR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kern="1200" spc="-100" dirty="0">
                          <a:ln>
                            <a:solidFill>
                              <a:schemeClr val="accent3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64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8380" y="188640"/>
            <a:ext cx="4277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Ⅰ.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배정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382" y="591071"/>
            <a:ext cx="2779928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 배정관리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배정확정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진행 상태까지의 설치자 배정 관리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6587" r="6177" b="22305"/>
          <a:stretch/>
        </p:blipFill>
        <p:spPr>
          <a:xfrm>
            <a:off x="413667" y="1052736"/>
            <a:ext cx="8784977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330721" y="1416094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98044" y="1416094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8108" y="1416094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③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06285" y="1416094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4920" y="1416094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⑤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27707" y="1416094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⑥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4348" y="1196752"/>
            <a:ext cx="257795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ko-KR" sz="1100" b="1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항목설명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 약속일자변경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고객과의 최초 약속일 변경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 변경 가능일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최초 약속일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+ 15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 이내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약속변경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 이후 변경 불가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② 확정취소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건에 확정된 설치자 변경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③ 분할작업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대량 납품 건에 대해 설치자 분할 배정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④ 임시배정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확정 전 설치자 임시 배정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대량 건 등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ts val="1200"/>
              </a:lnSpc>
            </a:pP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⑤ 배정확정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 배정 확정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⑥ 배정리스트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배정내역에 대해 설치자 별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List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출력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915" y="4698826"/>
            <a:ext cx="388920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200"/>
              </a:lnSpc>
              <a:defRPr sz="1100" b="1" spc="-1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-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 배정관리 방법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① 약속일자변경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변경 수주번호 선택 후 ⓐ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변경약속 입력 후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①  약속일자변경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rgbClr val="0033CC"/>
              </a:solidFill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② 확정취소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변경 수주번호 선택 후 ② 확정취소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확정여부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Y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N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으로 변경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③ 분할작업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수주건의 품목이 다 품목 또는 수량이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2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개 이상인 경우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1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개의 수주를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타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설치점에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분할 배정 해 줄 수 있음 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9123" y="4698826"/>
            <a:ext cx="394370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200"/>
              </a:lnSpc>
              <a:defRPr sz="1100" b="1" spc="-1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b="0" dirty="0"/>
              <a:t>  </a:t>
            </a:r>
            <a:r>
              <a:rPr lang="en-US" altLang="ko-KR" b="0" dirty="0">
                <a:solidFill>
                  <a:schemeClr val="bg1"/>
                </a:solidFill>
              </a:rPr>
              <a:t>- </a:t>
            </a:r>
            <a:r>
              <a:rPr lang="ko-KR" altLang="en-US" b="0" dirty="0">
                <a:solidFill>
                  <a:schemeClr val="bg1"/>
                </a:solidFill>
              </a:rPr>
              <a:t>설치자 배정관리 방법</a:t>
            </a:r>
            <a:endParaRPr lang="en-US" altLang="ko-KR" b="0" dirty="0">
              <a:solidFill>
                <a:schemeClr val="bg1"/>
              </a:solidFill>
            </a:endParaRPr>
          </a:p>
          <a:p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④ 임시배정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변경 수주번호 선택 후 ④ 임시배정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확정여부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N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으로 변경 없음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⑤ 배정확정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변경 수주번호 선택 후 ⑤  배정확정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배정여부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N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Y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로 변경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⑥ 배정리스트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⑥  배정리스트 선택 후 배정리스트 출력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221980" y="4316627"/>
            <a:ext cx="1224136" cy="20411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15060" y="4112025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ⓐ 약속일자변경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실행 단추: 끝 2">
            <a:hlinkClick r:id="rId3" action="ppaction://hlinksldjump" highlightClick="1"/>
          </p:cNvPr>
          <p:cNvSpPr/>
          <p:nvPr/>
        </p:nvSpPr>
        <p:spPr>
          <a:xfrm>
            <a:off x="4058638" y="6280042"/>
            <a:ext cx="180000" cy="144000"/>
          </a:xfrm>
          <a:prstGeom prst="actionButtonEnd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798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587" r="6154" b="30538"/>
          <a:stretch/>
        </p:blipFill>
        <p:spPr>
          <a:xfrm>
            <a:off x="413666" y="1052736"/>
            <a:ext cx="8784977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70382" y="591071"/>
            <a:ext cx="3230372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200" b="1" spc="-10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2. </a:t>
            </a:r>
            <a:r>
              <a:rPr lang="ko-KR" altLang="en-US" dirty="0"/>
              <a:t>설치건 정리</a:t>
            </a:r>
            <a:endParaRPr lang="en-US" altLang="ko-KR" dirty="0"/>
          </a:p>
          <a:p>
            <a:r>
              <a:rPr lang="en-US" altLang="ko-KR" sz="1050" b="0" dirty="0"/>
              <a:t>   - </a:t>
            </a:r>
            <a:r>
              <a:rPr lang="ko-KR" altLang="en-US" sz="1050" b="0" dirty="0"/>
              <a:t>배정 확정 </a:t>
            </a:r>
            <a:r>
              <a:rPr lang="en-US" altLang="ko-KR" sz="1050" b="0" dirty="0"/>
              <a:t>~ </a:t>
            </a:r>
            <a:r>
              <a:rPr lang="ko-KR" altLang="en-US" sz="1050" b="0" dirty="0"/>
              <a:t>처리 완료 까지의 배송설치 건 정리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완료</a:t>
            </a:r>
            <a:r>
              <a:rPr lang="en-US" altLang="ko-KR" sz="1050" b="0" dirty="0"/>
              <a:t>, </a:t>
            </a:r>
            <a:r>
              <a:rPr lang="ko-KR" altLang="en-US" sz="1050" b="0" dirty="0"/>
              <a:t>수정</a:t>
            </a:r>
            <a:r>
              <a:rPr lang="en-US" altLang="ko-KR" sz="1050" b="0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1521" y="2546394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77934" y="2546438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26110" y="2546394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③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78164" y="2546393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24736" y="2546392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⑤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66598" y="2546391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⑥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7900" y="1229704"/>
            <a:ext cx="2643672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200"/>
              </a:lnSpc>
              <a:defRPr sz="1100" b="1" spc="-1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  -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항목설명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① 일괄적용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동일 수주건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,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다 품목일 경우 진행상태 등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완료유형에 대해 일괄 적용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② 제조번호등록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필수등록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제품별 제조번호 등록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진행상태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인수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인 건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③ </a:t>
            </a:r>
            <a:r>
              <a:rPr lang="ko-KR" altLang="en-US" sz="105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폐가전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품목 등록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 완료 후 회수한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폐가전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품목 입력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④ 출고확정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당일 설치 대상 건에 대한 출고 확정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⑤ 출문처리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당일 출고 확정 건 중 실제 처리 대상 건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⑥ 특이사항관리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해당 수주 건에 대한 약속변경 이력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.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고객 통화이력 등 설치 완료 전 변경내역 입력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18380" y="188640"/>
            <a:ext cx="4277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Ⅰ.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배정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915" y="4698826"/>
            <a:ext cx="43524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200"/>
              </a:lnSpc>
              <a:defRPr sz="1100" b="1" spc="-1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  -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설치자 배정관리 방법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① 일괄적용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설치자 별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 변경 수주번호 선택  →  변경할 항목 입력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선택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후 ① 일괄적용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rgbClr val="0033CC"/>
              </a:solidFill>
            </a:endParaRPr>
          </a:p>
          <a:p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②  제조번호 등록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설치자 별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 변경 수주번호 선택  →  진행상태 「인수」 입력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선택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후 ② 제조번호 등록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rgbClr val="0033CC"/>
              </a:solidFill>
            </a:endParaRPr>
          </a:p>
          <a:p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③  </a:t>
            </a:r>
            <a:r>
              <a:rPr lang="ko-KR" altLang="en-US" sz="105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폐가전품목등록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설치자 별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 변경 수주번호 선택  →  진행상태 「인수」 입력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선택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완료구분 입력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선택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폐가전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수거 체크  후 ③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폐가전품목등록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품목 및 수량 입력 후 적용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6183" y="4698826"/>
            <a:ext cx="40126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200"/>
              </a:lnSpc>
              <a:defRPr sz="1100" b="1" spc="-1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>
                <a:solidFill>
                  <a:schemeClr val="bg1"/>
                </a:solidFill>
              </a:rPr>
              <a:t>  - </a:t>
            </a:r>
            <a:r>
              <a:rPr lang="ko-KR" altLang="en-US" dirty="0">
                <a:solidFill>
                  <a:schemeClr val="bg1"/>
                </a:solidFill>
              </a:rPr>
              <a:t>설치자 배정관리 방법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④ 출고확정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진행상태 「배정확정」 건 변경 가능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설치자 별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 변경 수주번호 선택  → 진행상태 변경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선택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후 ④ 출고확정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rgbClr val="0033CC"/>
              </a:solidFill>
            </a:endParaRPr>
          </a:p>
          <a:p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⑤ 출문처리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진행상태 「출고확정」 건 변경 가능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설치자 별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 변경 수주번호 선택  → 진행상태 변경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선택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후 ⑤ 출문처리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rgbClr val="0033CC"/>
              </a:solidFill>
            </a:endParaRPr>
          </a:p>
          <a:p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⑥ 출문처리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진행상태 「출고확정」 건 변경 가능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부서코드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약속일자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필수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입력 → 설치자 별 조회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→   변경 수주번호 선택  → ⑥ 특이사항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</a:rPr>
              <a:t>클릭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→ 추가 후 내용 입력 및 저장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5157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2564" b="29881"/>
          <a:stretch/>
        </p:blipFill>
        <p:spPr>
          <a:xfrm>
            <a:off x="871240" y="5635848"/>
            <a:ext cx="3070820" cy="9821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t="5659" r="17568" b="30373"/>
          <a:stretch/>
        </p:blipFill>
        <p:spPr>
          <a:xfrm>
            <a:off x="413666" y="1052736"/>
            <a:ext cx="8784978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70382" y="591071"/>
            <a:ext cx="4070345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전표 취소 및 정정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배송 설치 건에 대한 의뢰취소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배정센터 변경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약속일자 변경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완료내역 수정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12747" y="2683127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22786" y="3358288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7158" y="1268760"/>
            <a:ext cx="2409634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200"/>
              </a:lnSpc>
              <a:defRPr sz="1100" b="1" spc="-1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  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-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항목설명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① 미처리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/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약속일자 변경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완료건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취소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,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/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회수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에 대해서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미처리 상태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완료유형 이전 단계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로 변경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약속일자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: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당일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+ 5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일 이내 변경 가능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② 특이사항관리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설치건 정리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‘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특이사항관리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’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와 동일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ⓐ 의뢰취소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수주 건의 진행단계가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‘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출고확정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’ </a:t>
            </a: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이전 단계인 경우 접수 취소 가능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ⓑ 변경센터</a:t>
            </a:r>
            <a:r>
              <a:rPr lang="en-US" altLang="ko-KR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, </a:t>
            </a:r>
            <a:r>
              <a:rPr lang="ko-KR" altLang="en-US" sz="105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변경설치자</a:t>
            </a:r>
            <a:endParaRPr lang="en-US" altLang="ko-KR" sz="105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-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해당 수주 건에 대해 타 센터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또는 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타 </a:t>
            </a:r>
            <a:r>
              <a:rPr lang="ko-KR" altLang="en-US" sz="1050" b="0" dirty="0" err="1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설치점으로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변경할 경우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(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단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,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센터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및 설치자 변경 시 수주건의 </a:t>
            </a:r>
            <a:endParaRPr lang="en-US" altLang="ko-KR" sz="1050" b="0" dirty="0">
              <a:ln>
                <a:solidFill>
                  <a:schemeClr val="accent3">
                    <a:alpha val="0"/>
                  </a:schemeClr>
                </a:solidFill>
              </a:ln>
            </a:endParaRPr>
          </a:p>
          <a:p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          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진행단계는 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‘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출문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’</a:t>
            </a:r>
            <a:r>
              <a:rPr lang="ko-KR" altLang="en-US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일 경우에만 가능</a:t>
            </a:r>
            <a:r>
              <a:rPr lang="en-US" altLang="ko-KR" sz="1050" b="0" dirty="0">
                <a:ln>
                  <a:solidFill>
                    <a:schemeClr val="accent3">
                      <a:alpha val="0"/>
                    </a:schemeClr>
                  </a:solidFill>
                </a:ln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666" y="4725144"/>
            <a:ext cx="4007828" cy="1069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전표 취소 및 정정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 미처리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약속일자 변경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변경 수주번호 입력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① 미처리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약속일자 변경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팝업 생성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㉠ 미처리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출문 변경 요청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㉡ 약속일자 변경 요청 체크박스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후 저장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8159" y="4725144"/>
            <a:ext cx="3417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전표 취소 및 정정 방법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② 특이사항 관리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변경 수주번호 입력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② 특이시항관리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팝업생성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추가 및 삭제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후 저장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18380" y="188640"/>
            <a:ext cx="4277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Ⅰ.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배정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설치관리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191374" y="3162468"/>
            <a:ext cx="1270966" cy="289186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  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20274" y="3183950"/>
            <a:ext cx="12779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ⓑ 센터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설치자 변경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772930" y="3006811"/>
            <a:ext cx="1258306" cy="202624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  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65894" y="2779897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ⓐ 의뢰 취소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015256" y="6000080"/>
            <a:ext cx="1990700" cy="14164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  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rcRect t="6226" b="68929"/>
          <a:stretch/>
        </p:blipFill>
        <p:spPr>
          <a:xfrm>
            <a:off x="5813688" y="5635848"/>
            <a:ext cx="3070820" cy="9713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직사각형 19"/>
          <p:cNvSpPr/>
          <p:nvPr/>
        </p:nvSpPr>
        <p:spPr>
          <a:xfrm>
            <a:off x="7889807" y="5661770"/>
            <a:ext cx="1021544" cy="14164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  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17724" y="5794668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㉠ 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273439" y="580341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㉡ 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2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384" r="17007" b="35462"/>
          <a:stretch/>
        </p:blipFill>
        <p:spPr>
          <a:xfrm>
            <a:off x="413666" y="1052736"/>
            <a:ext cx="8784978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472363" y="1268760"/>
            <a:ext cx="28083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항목설명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 출고요청집계표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- </a:t>
            </a:r>
            <a:r>
              <a:rPr lang="ko-KR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출고요청집계표출력 버튼을 클릭하면 조회된 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설치희망일자를 인수로 하여 출고요청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집계표 </a:t>
            </a:r>
            <a:r>
              <a:rPr lang="ko-KR" altLang="ko-KR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팝업창을</a:t>
            </a:r>
            <a:r>
              <a:rPr lang="ko-KR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띄운다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② 출고요청집계표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부서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출고요청집계표는 설치자 기준이며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FDC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통합 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집계표가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팝업되며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동일하게 사용된다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③ 조회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 - FDC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별 배정 물량을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설치기사별로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보여준다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④ 출고요청리스트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출하확정건에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대한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모델별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출고수량 집계표 발행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666" y="4725144"/>
            <a:ext cx="222048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배정물량 확인 및 출고요청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List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출력방법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179889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배정물량현황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배정물량 및 출하요청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List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출력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710" y="1358529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5211" y="1358528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12291" y="1366818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③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40876" y="1489672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8380" y="188640"/>
            <a:ext cx="4277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Ⅰ.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배정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835" y="5084167"/>
            <a:ext cx="676875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출고요청리스트출력 버튼을 클릭하면 조회된 설치자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설치희망일자를 인수로 하여 출고요청리스트 팝업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창을 띄운다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인쇄 버튼을 클릭하여 조회된 출하요청리스트를 인쇄할 수 있다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56" y="4979059"/>
            <a:ext cx="2592288" cy="155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2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384" r="16443" b="39097"/>
          <a:stretch/>
        </p:blipFill>
        <p:spPr>
          <a:xfrm>
            <a:off x="416618" y="1052736"/>
            <a:ext cx="8782026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4908716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설치확인서 출력방법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부서코드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약속일자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동부대우전자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및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②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미완료건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완료건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전체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발행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미발행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조회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4480714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200" b="1" spc="-10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설치확인서</a:t>
            </a:r>
            <a:endParaRPr lang="en-US" altLang="ko-KR" dirty="0"/>
          </a:p>
          <a:p>
            <a:r>
              <a:rPr lang="en-US" altLang="ko-KR" sz="1050" dirty="0"/>
              <a:t>  </a:t>
            </a:r>
            <a:r>
              <a:rPr lang="en-US" altLang="ko-KR" sz="1050" b="0" dirty="0"/>
              <a:t> - </a:t>
            </a:r>
            <a:r>
              <a:rPr lang="ko-KR" altLang="en-US" sz="1050" b="0" dirty="0" err="1"/>
              <a:t>고객사</a:t>
            </a:r>
            <a:r>
              <a:rPr lang="ko-KR" altLang="en-US" sz="1050" b="0" dirty="0"/>
              <a:t> 배송 설치 건에 대한 설치 확인서 출력</a:t>
            </a:r>
            <a:r>
              <a:rPr lang="en-US" altLang="ko-KR" sz="1050" b="0" dirty="0"/>
              <a:t>(</a:t>
            </a:r>
            <a:r>
              <a:rPr lang="ko-KR" altLang="en-US" sz="1050" b="0" dirty="0"/>
              <a:t>단</a:t>
            </a:r>
            <a:r>
              <a:rPr lang="en-US" altLang="ko-KR" sz="1050" b="0" dirty="0"/>
              <a:t>, </a:t>
            </a:r>
            <a:r>
              <a:rPr lang="ko-KR" altLang="en-US" sz="1050" b="0" dirty="0" err="1"/>
              <a:t>고객사</a:t>
            </a:r>
            <a:r>
              <a:rPr lang="ko-KR" altLang="en-US" sz="1050" b="0" dirty="0"/>
              <a:t> 설치 확인서가 필요한 경우</a:t>
            </a:r>
            <a:r>
              <a:rPr lang="en-US" altLang="ko-KR" sz="1050" b="0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4277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Ⅰ.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배정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설치관리</a:t>
            </a:r>
          </a:p>
        </p:txBody>
      </p:sp>
    </p:spTree>
    <p:extLst>
      <p:ext uri="{BB962C8B-B14F-4D97-AF65-F5344CB8AC3E}">
        <p14:creationId xmlns:p14="http://schemas.microsoft.com/office/powerpoint/2010/main" val="236044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385" r="15862" b="28193"/>
          <a:stretch/>
        </p:blipFill>
        <p:spPr>
          <a:xfrm>
            <a:off x="413666" y="1052736"/>
            <a:ext cx="8784978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507382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배송설치 이력 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동부대우전자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및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수주일 기준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고객명 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특이사항관리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해당 수주번호에 대한 특이사항 관리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전표취소 및 정정 → 특이사항관리 와 동일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2691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고객이력조회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2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배송설치 이력 조회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구분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업체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센터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고객이름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</p:spTree>
    <p:extLst>
      <p:ext uri="{BB962C8B-B14F-4D97-AF65-F5344CB8AC3E}">
        <p14:creationId xmlns:p14="http://schemas.microsoft.com/office/powerpoint/2010/main" val="213705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587" r="12857" b="29790"/>
          <a:stretch/>
        </p:blipFill>
        <p:spPr>
          <a:xfrm>
            <a:off x="413666" y="1052737"/>
            <a:ext cx="8784978" cy="36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4318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전체진행현황 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동부대우전자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및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수주일 기준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4653838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전체진행현황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진행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상태별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현황 조회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센터 별 진행 상황 별 집계현황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본사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전국센터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지사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관할센터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</p:spTree>
    <p:extLst>
      <p:ext uri="{BB962C8B-B14F-4D97-AF65-F5344CB8AC3E}">
        <p14:creationId xmlns:p14="http://schemas.microsoft.com/office/powerpoint/2010/main" val="232115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587" r="12857" b="30538"/>
          <a:stretch/>
        </p:blipFill>
        <p:spPr>
          <a:xfrm>
            <a:off x="413666" y="1052736"/>
            <a:ext cx="8784978" cy="36004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5464958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센터 별 진행현황 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동부대우전자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및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부서코드 입력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수주일 기준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센터 별 진행현황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진행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상태별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현황 조회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설치팀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진행 상황 별 집계현황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</p:spTree>
    <p:extLst>
      <p:ext uri="{BB962C8B-B14F-4D97-AF65-F5344CB8AC3E}">
        <p14:creationId xmlns:p14="http://schemas.microsoft.com/office/powerpoint/2010/main" val="1928686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587" r="12230" b="31287"/>
          <a:stretch/>
        </p:blipFill>
        <p:spPr>
          <a:xfrm>
            <a:off x="413666" y="1052736"/>
            <a:ext cx="8784978" cy="36004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6269665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 별 진행현황 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필수항목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수주일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고객명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필수항목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2634054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 별 진행현황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배송설치 엔지니어 기준 설치 건 세부내역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</p:spTree>
    <p:extLst>
      <p:ext uri="{BB962C8B-B14F-4D97-AF65-F5344CB8AC3E}">
        <p14:creationId xmlns:p14="http://schemas.microsoft.com/office/powerpoint/2010/main" val="3401739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587" r="10949" b="34281"/>
          <a:stretch/>
        </p:blipFill>
        <p:spPr>
          <a:xfrm>
            <a:off x="413666" y="1051621"/>
            <a:ext cx="8784978" cy="36735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6588663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리스트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진행상태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유형별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선택 → 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완료일자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출문일자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1677062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리스트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배송설치 진행 상태 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666" y="5280349"/>
            <a:ext cx="3504486" cy="1223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진행상태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 미배정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건에 대한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 배정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② 배정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건에 대한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 완료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③ 배정확정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배정한 설치 건에 대해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확정 완료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④ 출고확정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당일 설치를 위한 출고 확정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⑤ 출문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당일 설치 및 출고를 위해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에게 인계 완료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⑥ 연기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 또는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요청에 의해 설치 의뢰 연기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18" y="5280349"/>
            <a:ext cx="4221027" cy="1238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진행상태</a:t>
            </a:r>
            <a:endParaRPr lang="en-US" altLang="ko-KR" sz="11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⑦ 부재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 외출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연락불가로 인한 당일 설치 불가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⑧ 인수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건에 대한 설치 완료 및 고객 인수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⑨ 부분인수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하나의 수주번호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다 품목 설치 건 중 일부 제품만 설치 완료한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⑩ 회수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교환회수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거래처환입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환급회수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매장진열품 회수가 완료된 상태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⑪ 취소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고객이 상품 구매를 취소한 경우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방문 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방문 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⑫ 의뢰취소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판매처 또는 동부대우전자 국내영업에서 해당 구매건 취소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872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587" r="12232" b="32035"/>
          <a:stretch/>
        </p:blipFill>
        <p:spPr>
          <a:xfrm>
            <a:off x="415178" y="1046561"/>
            <a:ext cx="8783466" cy="36785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6386685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미완료 리스트 조회 방법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 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제품 유형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일반가전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선택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2310248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미완료 리스트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기간별 설치 미완료 내역 조회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(raw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</p:spTree>
    <p:extLst>
      <p:ext uri="{BB962C8B-B14F-4D97-AF65-F5344CB8AC3E}">
        <p14:creationId xmlns:p14="http://schemas.microsoft.com/office/powerpoint/2010/main" val="3366207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587" r="12230" b="31287"/>
          <a:stretch/>
        </p:blipFill>
        <p:spPr>
          <a:xfrm>
            <a:off x="413666" y="1041311"/>
            <a:ext cx="8784978" cy="36838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709360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완료 리스트 조회 방법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 설치일자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수거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제품별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선택 후 조회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품목코드 필수 입력 아님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2196435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완료 리스트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기간별 설치 완료 내역 조회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(raw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666" y="5208642"/>
            <a:ext cx="1154483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제품 코드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666" y="5417348"/>
            <a:ext cx="157607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P06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김치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와인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P07 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세탁기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P08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세탁기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드럼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P09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CTV(CRT) / P03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LCD(32″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이상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6763" y="5248071"/>
            <a:ext cx="1383712" cy="1238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진행상태</a:t>
            </a:r>
            <a:endParaRPr lang="en-US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실내기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P11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실외기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P12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경량형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세탁기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/ P13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전자레인지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P14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청소기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P04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기타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6694" y="5248071"/>
            <a:ext cx="175080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진행상태</a:t>
            </a:r>
            <a:endParaRPr lang="en-US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LCD(32″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P21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/ P01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세탁기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P02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(300ℓ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P15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(300ℓ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초과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P16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분리형 실내기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5391" y="5248071"/>
            <a:ext cx="1718740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</a:t>
            </a:r>
            <a:endParaRPr lang="en-US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분리형 실외기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P18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스탠드 실내기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P19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스탠드 실외기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P20</a:t>
            </a:r>
          </a:p>
        </p:txBody>
      </p:sp>
    </p:spTree>
    <p:extLst>
      <p:ext uri="{BB962C8B-B14F-4D97-AF65-F5344CB8AC3E}">
        <p14:creationId xmlns:p14="http://schemas.microsoft.com/office/powerpoint/2010/main" val="1117726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385" r="24224" b="31828"/>
          <a:stretch/>
        </p:blipFill>
        <p:spPr>
          <a:xfrm>
            <a:off x="413666" y="1052736"/>
            <a:ext cx="8784978" cy="36724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6950942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수거 집계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(’12. 02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이후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조회방법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설치일자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2893741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8. </a:t>
            </a:r>
            <a:r>
              <a:rPr lang="ko-KR" altLang="en-US" sz="120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수거 집계</a:t>
            </a:r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(’12. 02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이후</a:t>
            </a:r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센터 별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수거 현황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품목 별 회수 수량 집계표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045138" y="1550246"/>
            <a:ext cx="1248850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1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385" r="23750" b="31828"/>
          <a:stretch/>
        </p:blipFill>
        <p:spPr>
          <a:xfrm>
            <a:off x="413666" y="1058617"/>
            <a:ext cx="8784978" cy="36665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541205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배달설치 처리현황 조회 방법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일일 설치현황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미결 세부내역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약속일자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3874779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9.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배달설치 처리현황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약속일 기준 설치 현황 미완료 현황 집계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일일 설치현황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미결 세부내역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069852" y="1434916"/>
            <a:ext cx="1584176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48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6587" r="13475" b="29790"/>
          <a:stretch/>
        </p:blipFill>
        <p:spPr>
          <a:xfrm>
            <a:off x="413666" y="1052736"/>
            <a:ext cx="8784978" cy="36724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70423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회수 리스트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(ECOAS)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설치일자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수거품목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품목코드 필수입력 아님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3206327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120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회수 리스트</a:t>
            </a:r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(ECOAS)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수거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raw data(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환경공단 전산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-ECOAS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업로드 형식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666" y="5208642"/>
            <a:ext cx="1154483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제품 코드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666" y="5417348"/>
            <a:ext cx="157607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P06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김치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와인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P07 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세탁기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P08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세탁기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드럼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P09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CTV(CRT) / P03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LCD(32″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이상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6763" y="5248071"/>
            <a:ext cx="1383712" cy="1238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진행상태</a:t>
            </a:r>
            <a:endParaRPr lang="en-US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실내기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P11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실외기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P12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경량형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세탁기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/ P13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전자레인지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P14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청소기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P04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기타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6694" y="5248071"/>
            <a:ext cx="175080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진행상태</a:t>
            </a:r>
            <a:endParaRPr lang="en-US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LCD(32″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P21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/ P01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세탁기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 P02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(300ℓ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P15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냉장고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(300ℓ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초과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P16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분리형 실내기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5391" y="5248071"/>
            <a:ext cx="1718740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1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유형별 진행상</a:t>
            </a:r>
            <a:endParaRPr lang="en-US" altLang="ko-KR" sz="11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분리형 실외기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P18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스탠드 실내기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P19</a:t>
            </a: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·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에어컨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스탠드 실외기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/ P20</a:t>
            </a:r>
          </a:p>
        </p:txBody>
      </p:sp>
    </p:spTree>
    <p:extLst>
      <p:ext uri="{BB962C8B-B14F-4D97-AF65-F5344CB8AC3E}">
        <p14:creationId xmlns:p14="http://schemas.microsoft.com/office/powerpoint/2010/main" val="1253113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6587" r="12857" b="31287"/>
          <a:stretch/>
        </p:blipFill>
        <p:spPr>
          <a:xfrm>
            <a:off x="413666" y="1051496"/>
            <a:ext cx="8784978" cy="36736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3666" y="4725144"/>
            <a:ext cx="60019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미환입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현황 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완료일자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환입여부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환입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미환입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2550698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11. </a:t>
            </a:r>
            <a:r>
              <a:rPr lang="ko-KR" altLang="en-US" sz="1200" b="1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미환입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현황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센터별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취소건 환입 대상 현황 및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미환입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현황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</p:spTree>
    <p:extLst>
      <p:ext uri="{BB962C8B-B14F-4D97-AF65-F5344CB8AC3E}">
        <p14:creationId xmlns:p14="http://schemas.microsoft.com/office/powerpoint/2010/main" val="1279127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13666" y="4725144"/>
            <a:ext cx="86725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배달</a:t>
            </a:r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리스트 조회 방법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고객사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필수입력 →  부서코드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 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→ 완료기간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사원코드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필수아님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→ 정산구분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(1: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정산대상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2 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정산제외 대상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3 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입력 후 조회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마감여부 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확정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주간 단위 자동 확정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확정시 설치건 정리 화면의 수정 작업 불가 필히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미확정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상태에서 설치건 정치 수정하여야 함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: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미확정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전환 사유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완료 유형 오적용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사다리 사용 추가 및 삭제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폐가전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회수 등록 및 취소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정산 마감 이전 간단한 작업 만으로 전산등록 오류건 수정 가능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4063933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12.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배달</a:t>
            </a:r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설치 리스트 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정산 마감확정 여부 변경 및 배송 설치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raw data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제공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용역비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포함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388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Ⅱ.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영업물류 사용 매뉴얼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배달설치관리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현황관리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58241" t="2135" r="10296" b="34045"/>
          <a:stretch/>
        </p:blipFill>
        <p:spPr>
          <a:xfrm>
            <a:off x="413666" y="1016771"/>
            <a:ext cx="5572920" cy="371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4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9652" y="4825155"/>
            <a:ext cx="835292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- </a:t>
            </a:r>
            <a:r>
              <a:rPr lang="ko-KR" altLang="en-US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분할수주는 지역 담당에 배정된 상태에서만 진행가능</a:t>
            </a:r>
            <a:endParaRPr lang="en-US" altLang="ko-KR" sz="105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r>
              <a:rPr lang="en-US" altLang="ko-KR" sz="105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382" y="591071"/>
            <a:ext cx="3647152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200" b="1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분할 수주</a:t>
            </a:r>
            <a:endParaRPr lang="en-US" altLang="ko-KR" sz="1200" b="1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  -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분할 대상 수주건 체크 후 분할 수주버튼 클릭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아래 창이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pop-up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됨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380" y="188640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＃별첨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1</a:t>
            </a:r>
            <a:endParaRPr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64284" y="1052736"/>
            <a:ext cx="7654240" cy="3672408"/>
            <a:chOff x="464284" y="1052736"/>
            <a:chExt cx="5211763" cy="27432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284" y="1052736"/>
              <a:ext cx="5211763" cy="274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660016" y="1268180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①</a:t>
              </a:r>
              <a:endPara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0133" y="1947282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②</a:t>
              </a:r>
              <a:endPara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42060" y="1974234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③</a:t>
              </a:r>
              <a:endPara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37804" y="1964754"/>
              <a:ext cx="3032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④</a:t>
              </a:r>
              <a:endPara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91218" y="2682120"/>
              <a:ext cx="3032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⑤</a:t>
              </a:r>
              <a:endPara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26434" y="1947282"/>
              <a:ext cx="3032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⑥</a:t>
              </a:r>
              <a:endPara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55059" y="5040599"/>
            <a:ext cx="7951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① 분할 대상 정보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1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개의 </a:t>
            </a:r>
            <a:r>
              <a:rPr lang="ko-KR" altLang="en-US" sz="1050" spc="-100" dirty="0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수주건에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품목이 여러 개 또는 한 품목에 수량이 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개 이상인 건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② 분할 대상 항목을 지정 → ③ 설치자 선택 → ④ 분할수량 조정 → ⑤ 버튼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→ ⑥ 설치자명 변경확인 →</a:t>
            </a:r>
            <a:r>
              <a:rPr lang="en-US" altLang="ko-KR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저장 버튼 </a:t>
            </a:r>
            <a:r>
              <a:rPr lang="ko-KR" altLang="en-US" sz="1050" spc="-100" dirty="0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endParaRPr lang="en-US" altLang="ko-KR" sz="1050" spc="-100" dirty="0">
              <a:ln>
                <a:solidFill>
                  <a:schemeClr val="accent3">
                    <a:alpha val="0"/>
                  </a:schemeClr>
                </a:solidFill>
              </a:ln>
              <a:solidFill>
                <a:srgbClr val="0033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실행 단추: 끝 16">
            <a:hlinkClick r:id="rId3" action="ppaction://hlinksldjump" highlightClick="1"/>
          </p:cNvPr>
          <p:cNvSpPr/>
          <p:nvPr/>
        </p:nvSpPr>
        <p:spPr>
          <a:xfrm flipH="1">
            <a:off x="7902500" y="4774594"/>
            <a:ext cx="180000" cy="144000"/>
          </a:xfrm>
          <a:prstGeom prst="actionButtonEnd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520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35095</TotalTime>
  <Words>3205</Words>
  <Application>Microsoft Office PowerPoint</Application>
  <PresentationFormat>사용자 지정</PresentationFormat>
  <Paragraphs>451</Paragraphs>
  <Slides>21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3" baseType="lpstr">
      <vt:lpstr>1_Office 테마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</dc:title>
  <dc:subject>KPI</dc:subject>
  <dc:creator>Ziralgapbba2</dc:creator>
  <cp:keywords>성과평가</cp:keywords>
  <cp:lastModifiedBy>鄭 暉謨 システム開発統括部 コーポレートソリューション部 ストアアプリケーションG　CH</cp:lastModifiedBy>
  <cp:revision>2790</cp:revision>
  <cp:lastPrinted>2017-10-26T00:35:25Z</cp:lastPrinted>
  <dcterms:created xsi:type="dcterms:W3CDTF">2013-07-04T02:13:18Z</dcterms:created>
  <dcterms:modified xsi:type="dcterms:W3CDTF">2025-12-10T13:38:38Z</dcterms:modified>
  <cp:contentStatus/>
</cp:coreProperties>
</file>